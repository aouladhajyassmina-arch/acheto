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3F8953B-7381-ABDE-A38F-3824A175E735}">
          <p14:sldIdLst>
            <p14:sldId id="256"/>
            <p14:sldId id="257"/>
          </p14:sldIdLst>
        </p14:section>
        <p14:section name="Planification" id="{75EDF1E6-578E-1D2E-BB15-9E4C077E145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nclusion" id="{962EC4B5-C981-6B8A-2F1C-531934A99F3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25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Acheto : nous allons présenter la planification (Gantt, chemin critique, ressources, PERT).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membre du groupe présente ses propres tâches : Yasmina A+B, Basma C+G, Oumaima D+F, Noura E+H+I.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des 9 tâches avec responsable, dates, durée et prédécesseurs.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Gantt montre l'enchaînement des tâches et les dépendances.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Chemin critique : A → B → D → E → H → I, soit 3+2+3+5+3+2 = 18 jours ouvrés.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PERT montre le réseau des tâches. Le chemin critique passe par A, B, D, E, H,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 : aller (dates au plus tôt) puis retour (dates au plus tard). Marge = fin au plus tard − fin au plus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barre rouge 200 % indique une surcharge de Basma le 16/10.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et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PROJET « ACHETO »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Planification du projet : diagramme de Gantt, chemin critique, diagramme des ressources et diagramme de PERT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Yasmina  ·  Basma  ·  Oumaima  ·  Noura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82496" y="3931920"/>
            <a:ext cx="438912" cy="43891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931920"/>
            <a:ext cx="438912" cy="43891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3931920"/>
            <a:ext cx="438912" cy="43891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3931920"/>
            <a:ext cx="438912" cy="43891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Tâches A à I  ·  tâches critiques en orange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Répartition des tâches entre les membres</a:t>
            </a:r>
            <a:endParaRPr lang="en-US" sz="2800" dirty="0"/>
          </a:p>
        </p:txBody>
      </p:sp>
      <p:sp>
        <p:nvSpPr>
          <p:cNvPr id="3" name="Carte Yasmina"/>
          <p:cNvSpPr/>
          <p:nvPr/>
        </p:nvSpPr>
        <p:spPr>
          <a:xfrm>
            <a:off x="457200" y="109728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52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Yasmina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298448"/>
            <a:ext cx="12801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Tâches A + 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Analyse et Planification · Cahier des charges · Exigences · UML · Wireframes · Conception BDD et Interfaces</a:t>
            </a:r>
            <a:endParaRPr lang="en-US" sz="1400" dirty="0"/>
          </a:p>
        </p:txBody>
      </p:sp>
      <p:sp>
        <p:nvSpPr>
          <p:cNvPr id="8" name="Carte Basma"/>
          <p:cNvSpPr/>
          <p:nvPr/>
        </p:nvSpPr>
        <p:spPr>
          <a:xfrm>
            <a:off x="4663440" y="109728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527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252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Basma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298448"/>
            <a:ext cx="12801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Tâches C + 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Développement Front-end · Consultation · Recherche · Filtrage · Messagerie</a:t>
            </a:r>
            <a:endParaRPr lang="en-US" sz="1400" dirty="0"/>
          </a:p>
        </p:txBody>
      </p:sp>
      <p:sp>
        <p:nvSpPr>
          <p:cNvPr id="13" name="Carte Oumaima"/>
          <p:cNvSpPr/>
          <p:nvPr/>
        </p:nvSpPr>
        <p:spPr>
          <a:xfrm>
            <a:off x="45720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72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Oumaima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218688"/>
            <a:ext cx="12801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Tâches D + 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Authentification &amp; Profils · Inscription / Connexion · Administration · Gestion des villes, catégories et membres</a:t>
            </a:r>
            <a:endParaRPr lang="en-US" sz="1400" dirty="0"/>
          </a:p>
        </p:txBody>
      </p:sp>
      <p:sp>
        <p:nvSpPr>
          <p:cNvPr id="18" name="Carte Noura"/>
          <p:cNvSpPr/>
          <p:nvPr/>
        </p:nvSpPr>
        <p:spPr>
          <a:xfrm>
            <a:off x="4663440" y="301752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17296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172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Noura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218688"/>
            <a:ext cx="12801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Tâches E + H + 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Gestion des Annonces · Déposer / Valider / Supprimer · Tests, Corrections et Intégration Globale · Déploiement et Maintenance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Tableau prévisionnel des tâches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Tâche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Début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Durée (jours)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Prédécesseurs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Critique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Yasmina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08/10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Yasmina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09/10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Basma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Non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Oumaima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Noura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Oumaima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Non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Basma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Non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Noura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C, E, F, 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Noura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29/10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Oui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Durée totale : 18 jours ouvrés (06/10/2026 → 29/10/2026)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Diagramme de Gantt</a:t>
            </a:r>
            <a:endParaRPr lang="en-US" sz="2800" dirty="0"/>
          </a:p>
        </p:txBody>
      </p:sp>
      <p:pic>
        <p:nvPicPr>
          <p:cNvPr id="3" name="Image 0" descr="Diagramme de Gantt du projet Ach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21962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Lecture : </a:t>
            </a:r>
            <a:r>
              <a:rPr lang="en-US" sz="1400" dirty="0">
                <a:solidFill>
                  <a:schemeClr val="tx1"/>
                </a:solidFill>
              </a:rPr>
              <a:t>A → B → (C, D) → (E, F, G) → H → I. Le projet commence le 06/10 et se termine le 29/10/2026.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C, D : en parallèle après B   ·   E, F, G : en parallèle après D   ·   H attend la fin de C, E, F et 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Le chemin critique</a:t>
            </a:r>
            <a:endParaRPr lang="en-US" sz="2800" dirty="0"/>
          </a:p>
        </p:txBody>
      </p:sp>
      <p:pic>
        <p:nvPicPr>
          <p:cNvPr id="3" name="Image 0" descr="Chemin critique en hachuré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21962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3520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B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3520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3520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3520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H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3520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35204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I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 jours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6"/>
                </a:solidFill>
              </a:rPr>
              <a:t>durée minimale du projet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Tâches hachurées = critiques (marge nulle) : tout retard sur A, B, D, E, H ou I retarde la fin du projet.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Diagramme de PERT</a:t>
            </a:r>
            <a:endParaRPr lang="en-US" sz="2800" dirty="0"/>
          </a:p>
        </p:txBody>
      </p:sp>
      <p:pic>
        <p:nvPicPr>
          <p:cNvPr id="3" name="Image 0" descr="Diagramme de PERT du projet Ach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2851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Chaque nœud indique le début, la fin et la durée de la tâche. Les tâches grisées (C, F, G) ont de la marge ; H démarre quand C, E, F et G sont terminées.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PERT : dates au plus tôt / au plus tard et marges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328574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Tâche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Durée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Début tôt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 tôt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Début tard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 tard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Marge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Jours ouvrés depuis le début du projet</a:t>
            </a:r>
            <a:endParaRPr lang="en-US" sz="1200" dirty="0"/>
          </a:p>
        </p:txBody>
      </p:sp>
      <p:sp>
        <p:nvSpPr>
          <p:cNvPr id="5" name="Carte formule"/>
          <p:cNvSpPr/>
          <p:nvPr/>
        </p:nvSpPr>
        <p:spPr>
          <a:xfrm>
            <a:off x="6126480" y="109728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188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= fin tard − fin tôt</a:t>
            </a:r>
            <a:endParaRPr lang="en-US" sz="1400" dirty="0"/>
          </a:p>
        </p:txBody>
      </p:sp>
      <p:sp>
        <p:nvSpPr>
          <p:cNvPr id="7" name="Carte critique"/>
          <p:cNvSpPr/>
          <p:nvPr/>
        </p:nvSpPr>
        <p:spPr>
          <a:xfrm>
            <a:off x="6126480" y="228600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" name="Text 5"/>
          <p:cNvSpPr txBox="1"/>
          <p:nvPr/>
        </p:nvSpPr>
        <p:spPr>
          <a:xfrm>
            <a:off x="6263640" y="2377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Marge 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A, B, D, E, H, I sont critiques</a:t>
            </a:r>
            <a:endParaRPr lang="en-US" sz="1400" dirty="0"/>
          </a:p>
        </p:txBody>
      </p:sp>
      <p:sp>
        <p:nvSpPr>
          <p:cNvPr id="9" name="Carte marges"/>
          <p:cNvSpPr/>
          <p:nvPr/>
        </p:nvSpPr>
        <p:spPr>
          <a:xfrm>
            <a:off x="6126480" y="347472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 : 4 j  ·  F : 1 j  ·  G : 4 j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Diagramme des ressources</a:t>
            </a:r>
            <a:endParaRPr lang="en-US" sz="2800" dirty="0"/>
          </a:p>
        </p:txBody>
      </p:sp>
      <p:pic>
        <p:nvPicPr>
          <p:cNvPr id="3" name="Image 0" descr="Diagramme des ressour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1327023"/>
          </a:xfrm>
          <a:prstGeom prst="rect">
            <a:avLst/>
          </a:prstGeom>
        </p:spPr>
      </p:pic>
      <p:sp>
        <p:nvSpPr>
          <p:cNvPr id="4" name="Carte Charge par membre"/>
          <p:cNvSpPr/>
          <p:nvPr/>
        </p:nvSpPr>
        <p:spPr>
          <a:xfrm>
            <a:off x="457200" y="2514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Charge par membre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Yasmina : A, B (06 → 12/10). Oumaima : D, F. Noura : E, H, I jusqu'au 29/10.</a:t>
            </a:r>
            <a:endParaRPr lang="en-US" sz="1400" dirty="0"/>
          </a:p>
        </p:txBody>
      </p:sp>
      <p:sp>
        <p:nvSpPr>
          <p:cNvPr id="7" name="Carte Surcharge détectée"/>
          <p:cNvSpPr/>
          <p:nvPr/>
        </p:nvSpPr>
        <p:spPr>
          <a:xfrm>
            <a:off x="3246120" y="2514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Surcharge détectée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Basma est à 200 % le 16/10 : C se termine le jour où G commence.</a:t>
            </a:r>
            <a:endParaRPr lang="en-US" sz="1400" dirty="0"/>
          </a:p>
        </p:txBody>
      </p:sp>
      <p:sp>
        <p:nvSpPr>
          <p:cNvPr id="10" name="Carte Solution proposée"/>
          <p:cNvSpPr/>
          <p:nvPr/>
        </p:nvSpPr>
        <p:spPr>
          <a:xfrm>
            <a:off x="6035040" y="2514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Solution proposée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108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 a 4 jours de marge : la décaler résout la surcharge sans retarder le projet.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Chiffre 1"/>
          <p:cNvSpPr/>
          <p:nvPr/>
        </p:nvSpPr>
        <p:spPr>
          <a:xfrm>
            <a:off x="45720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18 jours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durée du projet, du 06/10 au 29/10/2026</a:t>
            </a:r>
            <a:endParaRPr lang="en-US" sz="1400" dirty="0"/>
          </a:p>
        </p:txBody>
      </p:sp>
      <p:sp>
        <p:nvSpPr>
          <p:cNvPr id="6" name="Chiffre 2"/>
          <p:cNvSpPr/>
          <p:nvPr/>
        </p:nvSpPr>
        <p:spPr>
          <a:xfrm>
            <a:off x="324612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6 tâches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sur le chemin critique : A, B, D, E, H, I</a:t>
            </a:r>
            <a:endParaRPr lang="en-US" sz="1400" dirty="0"/>
          </a:p>
        </p:txBody>
      </p:sp>
      <p:sp>
        <p:nvSpPr>
          <p:cNvPr id="9" name="Chiffre 3"/>
          <p:cNvSpPr/>
          <p:nvPr/>
        </p:nvSpPr>
        <p:spPr>
          <a:xfrm>
            <a:off x="603504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1 point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 vigilance : surcharge de Basma le 16/10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Merci pour votre attention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Yasmina · Basma · Oumaima · Noura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heto">
  <a:themeElements>
    <a:clrScheme name="Acheto">
      <a:dk1>
        <a:srgbClr val="1B1F2A"/>
      </a:dk1>
      <a:lt1>
        <a:srgbClr val="FFFFFF"/>
      </a:lt1>
      <a:dk2>
        <a:srgbClr val="12304A"/>
      </a:dk2>
      <a:lt2>
        <a:srgbClr val="EEF3F7"/>
      </a:lt2>
      <a:accent1>
        <a:srgbClr val="1C7293"/>
      </a:accent1>
      <a:accent2>
        <a:srgbClr val="F2A541"/>
      </a:accent2>
      <a:accent3>
        <a:srgbClr val="D64550"/>
      </a:accent3>
      <a:accent4>
        <a:srgbClr val="5B8E7D"/>
      </a:accent4>
      <a:accent5>
        <a:srgbClr val="8FB8CE"/>
      </a:accent5>
      <a:accent6>
        <a:srgbClr val="6B7A8C"/>
      </a:accent6>
      <a:hlink>
        <a:srgbClr val="1C7293"/>
      </a:hlink>
      <a:folHlink>
        <a:srgbClr val="6B7A8C"/>
      </a:folHlink>
    </a:clrScheme>
    <a:fontScheme name="Achet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837</Words>
  <Application>Microsoft Office PowerPoint</Application>
  <PresentationFormat>Affichage à l'écran (16:9)</PresentationFormat>
  <Paragraphs>241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Acheto</vt:lpstr>
      <vt:lpstr>PROJET « ACHETO »</vt:lpstr>
      <vt:lpstr>Répartition des tâches entre les membres</vt:lpstr>
      <vt:lpstr>Tableau prévisionnel des tâches</vt:lpstr>
      <vt:lpstr>Diagramme de Gantt</vt:lpstr>
      <vt:lpstr>Le chemin critique</vt:lpstr>
      <vt:lpstr>Diagramme de PERT</vt:lpstr>
      <vt:lpstr>PERT : dates au plus tôt / au plus tard et marges</vt:lpstr>
      <vt:lpstr>Diagramme des ressources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ACHETO - Planification</dc:title>
  <dc:subject>PptxGenJS Presentation</dc:subject>
  <dc:creator>PptxGenJS</dc:creator>
  <cp:lastModifiedBy>AOULADHAJ YASMINA</cp:lastModifiedBy>
  <cp:revision>2</cp:revision>
  <dcterms:created xsi:type="dcterms:W3CDTF">2026-10-05T22:04:50Z</dcterms:created>
  <dcterms:modified xsi:type="dcterms:W3CDTF">2026-10-05T22:10:04Z</dcterms:modified>
</cp:coreProperties>
</file>